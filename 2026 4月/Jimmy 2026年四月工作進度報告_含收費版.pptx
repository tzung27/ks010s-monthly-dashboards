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5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75" d="100"/>
          <a:sy n="75" d="100"/>
        </p:scale>
        <p:origin x="60" y="61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B1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20040" y="3017520"/>
            <a:ext cx="5029200" cy="54864"/>
          </a:xfrm>
          <a:prstGeom prst="rect">
            <a:avLst/>
          </a:prstGeom>
          <a:solidFill>
            <a:srgbClr val="EB1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7315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800" b="1" i="0">
                <a:solidFill>
                  <a:srgbClr val="FFFFFF"/>
                </a:solidFill>
                <a:latin typeface="Calibri"/>
              </a:rPr>
              <a:t>2026年四月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 i="0">
                <a:solidFill>
                  <a:srgbClr val="EB1700"/>
                </a:solidFill>
                <a:latin typeface="Calibri"/>
              </a:rPr>
              <a:t>工作進度報告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1546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8A8A9A"/>
                </a:solidFill>
                <a:latin typeface="Calibri"/>
              </a:rPr>
              <a:t>Adobe 技術工程師 ／ 特約講師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6118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A8A9A"/>
                </a:solidFill>
                <a:latin typeface="Calibri"/>
              </a:rPr>
              <a:t>報告期間：2026 / 04 / 01 – 2026 / 04 / 30</a:t>
            </a:r>
          </a:p>
        </p:txBody>
      </p:sp>
      <p:sp>
        <p:nvSpPr>
          <p:cNvPr id="9" name="Rectangle 8"/>
          <p:cNvSpPr/>
          <p:nvPr/>
        </p:nvSpPr>
        <p:spPr>
          <a:xfrm>
            <a:off x="9052560" y="1371600"/>
            <a:ext cx="2651760" cy="1325880"/>
          </a:xfrm>
          <a:prstGeom prst="rect">
            <a:avLst/>
          </a:prstGeom>
          <a:solidFill>
            <a:srgbClr val="25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9052560" y="1371600"/>
            <a:ext cx="54864" cy="1325880"/>
          </a:xfrm>
          <a:prstGeom prst="rect">
            <a:avLst/>
          </a:prstGeom>
          <a:solidFill>
            <a:srgbClr val="EB1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281160" y="1463040"/>
            <a:ext cx="2194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EB1700"/>
                </a:solidFill>
                <a:latin typeface="Calibri"/>
              </a:rPr>
              <a:t>59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81160" y="2121408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A8A9A"/>
                </a:solidFill>
                <a:latin typeface="Calibri"/>
              </a:rPr>
              <a:t>技術案件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052560" y="3017520"/>
            <a:ext cx="2651760" cy="1325880"/>
          </a:xfrm>
          <a:prstGeom prst="rect">
            <a:avLst/>
          </a:prstGeom>
          <a:solidFill>
            <a:srgbClr val="25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9052560" y="3017520"/>
            <a:ext cx="54864" cy="1325880"/>
          </a:xfrm>
          <a:prstGeom prst="rect">
            <a:avLst/>
          </a:prstGeom>
          <a:solidFill>
            <a:srgbClr val="EB1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281160" y="3108960"/>
            <a:ext cx="2194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EB1700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81160" y="3767328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A8A9A"/>
                </a:solidFill>
                <a:latin typeface="Calibri"/>
              </a:rPr>
              <a:t>培訓場次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52560" y="4663440"/>
            <a:ext cx="2651760" cy="1325880"/>
          </a:xfrm>
          <a:prstGeom prst="rect">
            <a:avLst/>
          </a:prstGeom>
          <a:solidFill>
            <a:srgbClr val="25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9052560" y="4663440"/>
            <a:ext cx="54864" cy="1325880"/>
          </a:xfrm>
          <a:prstGeom prst="rect">
            <a:avLst/>
          </a:prstGeom>
          <a:solidFill>
            <a:srgbClr val="EB1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281160" y="4754879"/>
            <a:ext cx="2194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EB1700"/>
                </a:solidFill>
                <a:latin typeface="Calibri"/>
              </a:rPr>
              <a:t>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81160" y="5413248"/>
            <a:ext cx="2194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8A8A9A"/>
                </a:solidFill>
                <a:latin typeface="Calibri"/>
              </a:rPr>
              <a:t>內容產出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A8A9A"/>
                </a:solidFill>
                <a:latin typeface="Calibri"/>
              </a:rPr>
              <a:t>Adobe Technical Engineer  ·  Lecturer  ·  April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B1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1868912" cy="1051560"/>
          </a:xfrm>
          <a:prstGeom prst="rect">
            <a:avLst/>
          </a:prstGeom>
          <a:solidFill>
            <a:srgbClr val="2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25603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關鍵指標 KPI 總覽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3200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8A8A9A"/>
                </a:solidFill>
                <a:latin typeface="Calibri"/>
              </a:rPr>
              <a:t>2026 / 04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80160"/>
            <a:ext cx="3566160" cy="2377440"/>
          </a:xfrm>
          <a:prstGeom prst="rect">
            <a:avLst/>
          </a:prstGeom>
          <a:solidFill>
            <a:srgbClr val="25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280160"/>
            <a:ext cx="3566160" cy="64008"/>
          </a:xfrm>
          <a:prstGeom prst="rect">
            <a:avLst/>
          </a:prstGeom>
          <a:solidFill>
            <a:srgbClr val="EB1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1417320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EB1700"/>
                </a:solidFill>
                <a:latin typeface="Calibri"/>
              </a:rPr>
              <a:t>59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4231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技術案件處理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83464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A8A9A"/>
                </a:solidFill>
                <a:latin typeface="Calibri"/>
              </a:rPr>
              <a:t>系統整合・技術諮詢・維運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0" y="1280160"/>
            <a:ext cx="3566160" cy="2377440"/>
          </a:xfrm>
          <a:prstGeom prst="rect">
            <a:avLst/>
          </a:prstGeom>
          <a:solidFill>
            <a:srgbClr val="25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89120" y="1280160"/>
            <a:ext cx="3566160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0" y="1417320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00B4D8"/>
                </a:solidFill>
                <a:latin typeface="Calibri"/>
              </a:rPr>
              <a:t>4 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4231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教育訓練場次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83464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A8A9A"/>
                </a:solidFill>
                <a:latin typeface="Calibri"/>
              </a:rPr>
              <a:t>總時數約 12 小時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1280160"/>
            <a:ext cx="3566160" cy="2377440"/>
          </a:xfrm>
          <a:prstGeom prst="rect">
            <a:avLst/>
          </a:prstGeom>
          <a:solidFill>
            <a:srgbClr val="25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229600" y="1280160"/>
            <a:ext cx="3566160" cy="64008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12480" y="1417320"/>
            <a:ext cx="3200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6B35"/>
                </a:solidFill>
                <a:latin typeface="Calibri"/>
              </a:rPr>
              <a:t>9 件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0" y="242316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專業內容產出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283464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A8A9A"/>
                </a:solidFill>
                <a:latin typeface="Calibri"/>
              </a:rPr>
              <a:t>3 支影片・6 篇技術專欄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931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8A8A9A"/>
                </a:solidFill>
                <a:latin typeface="Calibri"/>
              </a:rPr>
              <a:t>本月亮點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4343400"/>
            <a:ext cx="5303520" cy="475488"/>
          </a:xfrm>
          <a:prstGeom prst="rect">
            <a:avLst/>
          </a:prstGeom>
          <a:solidFill>
            <a:srgbClr val="1E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77240" y="441655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5F5F5"/>
                </a:solidFill>
                <a:latin typeface="Calibri"/>
              </a:rPr>
              <a:t>✦  生成式 AI 深度整合至設計工作流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" y="4937760"/>
            <a:ext cx="5303520" cy="475488"/>
          </a:xfrm>
          <a:prstGeom prst="rect">
            <a:avLst/>
          </a:prstGeom>
          <a:solidFill>
            <a:srgbClr val="1E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777240" y="501091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5F5F5"/>
                </a:solidFill>
                <a:latin typeface="Calibri"/>
              </a:rPr>
              <a:t>✦  企業端 Acrobat Sign 電子簽署培訓首次落地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4343400"/>
            <a:ext cx="5303520" cy="475488"/>
          </a:xfrm>
          <a:prstGeom prst="rect">
            <a:avLst/>
          </a:prstGeom>
          <a:solidFill>
            <a:srgbClr val="1E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37960" y="441655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5F5F5"/>
                </a:solidFill>
                <a:latin typeface="Calibri"/>
              </a:rPr>
              <a:t>✦  CorelDRAW 2026 新品發表協助推廣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0" y="4937760"/>
            <a:ext cx="5303520" cy="475488"/>
          </a:xfrm>
          <a:prstGeom prst="rect">
            <a:avLst/>
          </a:prstGeom>
          <a:solidFill>
            <a:srgbClr val="1E2B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537960" y="501091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5F5F5"/>
                </a:solidFill>
                <a:latin typeface="Calibri"/>
              </a:rPr>
              <a:t>✦  Adobe × NVIDIA 戰略合作深度分析發布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B1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1868912" cy="1051560"/>
          </a:xfrm>
          <a:prstGeom prst="rect">
            <a:avLst/>
          </a:prstGeom>
          <a:solidFill>
            <a:srgbClr val="2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25603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一、教育訓練與授課實績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200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EB1700"/>
                </a:solidFill>
                <a:latin typeface="Calibri"/>
              </a:rPr>
              <a:t>4 場次 ／ 約 12 小時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34440"/>
            <a:ext cx="5303520" cy="2286000"/>
          </a:xfrm>
          <a:prstGeom prst="rect">
            <a:avLst/>
          </a:prstGeom>
          <a:solidFill>
            <a:srgbClr val="25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234440"/>
            <a:ext cx="54864" cy="2286000"/>
          </a:xfrm>
          <a:prstGeom prst="rect">
            <a:avLst/>
          </a:prstGeom>
          <a:solidFill>
            <a:srgbClr val="EB1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1344168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Photoshop + Express × Firefly AI 應用實務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1874519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B1700"/>
                </a:solidFill>
                <a:latin typeface="Calibri"/>
              </a:rPr>
              <a:t>📍 雲林科技大學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1945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5F5F5"/>
                </a:solidFill>
                <a:latin typeface="Calibri"/>
              </a:rPr>
              <a:t>• Firefly 生成式填充、擴展、結構與參考功能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724912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5F5F5"/>
                </a:solidFill>
                <a:latin typeface="Calibri"/>
              </a:rPr>
              <a:t>• PS 天空取代、一鍵移除與神經網路濾鏡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1234440"/>
            <a:ext cx="5303520" cy="2286000"/>
          </a:xfrm>
          <a:prstGeom prst="rect">
            <a:avLst/>
          </a:prstGeom>
          <a:solidFill>
            <a:srgbClr val="25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6400800" y="1234440"/>
            <a:ext cx="54864" cy="2286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83680" y="1344168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Illustrator × Firefly AI 向量圖形工作流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1874519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0B4D8"/>
                </a:solidFill>
                <a:latin typeface="Calibri"/>
              </a:rPr>
              <a:t>📍 雲林科技大學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19456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5F5F5"/>
                </a:solidFill>
                <a:latin typeface="Calibri"/>
              </a:rPr>
              <a:t>• 文字生成向量圖形、Mockup 建模實作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724912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5F5F5"/>
                </a:solidFill>
                <a:latin typeface="Calibri"/>
              </a:rPr>
              <a:t>• 字體辨識與 2D 轉 3D 技術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840480"/>
            <a:ext cx="5303520" cy="2286000"/>
          </a:xfrm>
          <a:prstGeom prst="rect">
            <a:avLst/>
          </a:prstGeom>
          <a:solidFill>
            <a:srgbClr val="25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48640" y="3840480"/>
            <a:ext cx="54864" cy="228600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1520" y="3950208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CorelDRAW Graphics 2026 新產品發表會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480560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6B35"/>
                </a:solidFill>
                <a:latin typeface="Calibri"/>
              </a:rPr>
              <a:t>📍 產品推廣活動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8006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5F5F5"/>
                </a:solidFill>
                <a:latin typeface="Calibri"/>
              </a:rPr>
              <a:t>• 文字生成點陣和向量圖形、重新混合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330952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5F5F5"/>
                </a:solidFill>
                <a:latin typeface="Calibri"/>
              </a:rPr>
              <a:t>• Photopaint 選取遮色片功能研究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3840480"/>
            <a:ext cx="5303520" cy="2286000"/>
          </a:xfrm>
          <a:prstGeom prst="rect">
            <a:avLst/>
          </a:prstGeom>
          <a:solidFill>
            <a:srgbClr val="25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6400800" y="3840480"/>
            <a:ext cx="54864" cy="2286000"/>
          </a:xfrm>
          <a:prstGeom prst="rect">
            <a:avLst/>
          </a:prstGeom>
          <a:solidFill>
            <a:srgbClr val="A8D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583680" y="3950208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Acrobat Sign 企業級電子簽署培訓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4480560"/>
            <a:ext cx="4937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8D884"/>
                </a:solidFill>
                <a:latin typeface="Calibri"/>
              </a:rPr>
              <a:t>📍 國際海洋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48006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5F5F5"/>
                </a:solidFill>
                <a:latin typeface="Calibri"/>
              </a:rPr>
              <a:t>• 企業數位工作流導入與合約自動化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5330952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5F5F5"/>
                </a:solidFill>
                <a:latin typeface="Calibri"/>
              </a:rPr>
              <a:t>• 電子簽章安全性實務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B1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1868912" cy="1051560"/>
          </a:xfrm>
          <a:prstGeom prst="rect">
            <a:avLst/>
          </a:prstGeom>
          <a:solidFill>
            <a:srgbClr val="2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25603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二、專業內容生產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0" y="3200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EB1700"/>
                </a:solidFill>
                <a:latin typeface="Calibri"/>
              </a:rPr>
              <a:t>3 支影片  ＋  6 篇專欄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143000"/>
            <a:ext cx="5394960" cy="411480"/>
          </a:xfrm>
          <a:prstGeom prst="rect">
            <a:avLst/>
          </a:prstGeom>
          <a:solidFill>
            <a:srgbClr val="2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1143000"/>
            <a:ext cx="54864" cy="411480"/>
          </a:xfrm>
          <a:prstGeom prst="rect">
            <a:avLst/>
          </a:prstGeom>
          <a:solidFill>
            <a:srgbClr val="EB1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11887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B1700"/>
                </a:solidFill>
                <a:latin typeface="Calibri"/>
              </a:rPr>
              <a:t>🎬  影音教學內容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1664208"/>
            <a:ext cx="5394960" cy="566928"/>
          </a:xfrm>
          <a:prstGeom prst="rect">
            <a:avLst/>
          </a:prstGeom>
          <a:solidFill>
            <a:srgbClr val="25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1737360"/>
            <a:ext cx="5074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5F5F5"/>
                </a:solidFill>
                <a:latin typeface="Calibri"/>
              </a:rPr>
              <a:t>▶  Adobe Illustrator × Firefly：重新定義向量設計的創作流程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350008"/>
            <a:ext cx="5394960" cy="566928"/>
          </a:xfrm>
          <a:prstGeom prst="rect">
            <a:avLst/>
          </a:prstGeom>
          <a:solidFill>
            <a:srgbClr val="25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2423160"/>
            <a:ext cx="5074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5F5F5"/>
                </a:solidFill>
                <a:latin typeface="Calibri"/>
              </a:rPr>
              <a:t>▶  CorelDRAW 2026 生成式 AI 應用：智慧設計工具如何翻倍工作效率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035808"/>
            <a:ext cx="5394960" cy="566928"/>
          </a:xfrm>
          <a:prstGeom prst="rect">
            <a:avLst/>
          </a:prstGeom>
          <a:solidFill>
            <a:srgbClr val="25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5800" y="3108960"/>
            <a:ext cx="5074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8A8A9A"/>
                </a:solidFill>
                <a:latin typeface="Calibri"/>
              </a:rPr>
              <a:t>▶  （第三支影片製作中）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1143000"/>
            <a:ext cx="5394960" cy="411480"/>
          </a:xfrm>
          <a:prstGeom prst="rect">
            <a:avLst/>
          </a:prstGeom>
          <a:solidFill>
            <a:srgbClr val="1A1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400800" y="1143000"/>
            <a:ext cx="54864" cy="4114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83680" y="11887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0B4D8"/>
                </a:solidFill>
                <a:latin typeface="Calibri"/>
              </a:rPr>
              <a:t>📝  技術專欄發佈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1664208"/>
            <a:ext cx="5394960" cy="749808"/>
          </a:xfrm>
          <a:prstGeom prst="rect">
            <a:avLst/>
          </a:prstGeom>
          <a:solidFill>
            <a:srgbClr val="25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400800" y="1664208"/>
            <a:ext cx="54864" cy="7498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83680" y="1700784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  <a:latin typeface="Calibri"/>
              </a:rPr>
              <a:t>AI 戰略合作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1993392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F5F5"/>
                </a:solidFill>
                <a:latin typeface="Calibri"/>
              </a:rPr>
              <a:t>Adobe × NVIDIA 擴大戰略合作對 AI 代理工作流的影響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0" y="2505456"/>
            <a:ext cx="5394960" cy="749808"/>
          </a:xfrm>
          <a:prstGeom prst="rect">
            <a:avLst/>
          </a:prstGeom>
          <a:solidFill>
            <a:srgbClr val="25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6400800" y="2505456"/>
            <a:ext cx="54864" cy="7498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583680" y="254203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  <a:latin typeface="Calibri"/>
              </a:rPr>
              <a:t>新工具應用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283464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F5F5"/>
                </a:solidFill>
                <a:latin typeface="Calibri"/>
              </a:rPr>
              <a:t>Adobe Stock「AI Studio」搜尋即創作新世代資源庫解析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00800" y="3346704"/>
            <a:ext cx="5394960" cy="749808"/>
          </a:xfrm>
          <a:prstGeom prst="rect">
            <a:avLst/>
          </a:prstGeom>
          <a:solidFill>
            <a:srgbClr val="25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400800" y="3346704"/>
            <a:ext cx="54864" cy="7498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583680" y="33832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  <a:latin typeface="Calibri"/>
              </a:rPr>
              <a:t>教育科技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83680" y="3675888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F5F5"/>
                </a:solidFill>
                <a:latin typeface="Calibri"/>
              </a:rPr>
              <a:t>Acrobat「學生空間」Beta 版 AI 學習體驗分享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00800" y="4187952"/>
            <a:ext cx="5394960" cy="749808"/>
          </a:xfrm>
          <a:prstGeom prst="rect">
            <a:avLst/>
          </a:prstGeom>
          <a:solidFill>
            <a:srgbClr val="25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400800" y="4187952"/>
            <a:ext cx="54864" cy="7498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583680" y="422452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4D8"/>
                </a:solidFill>
                <a:latin typeface="Calibri"/>
              </a:rPr>
              <a:t>資產管理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0" y="4517136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F5F5"/>
                </a:solidFill>
                <a:latin typeface="Calibri"/>
              </a:rPr>
              <a:t>Substance 3D 資產無限存取服務對創作者的效益評估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02920" y="5120640"/>
            <a:ext cx="11292840" cy="1371600"/>
          </a:xfrm>
          <a:prstGeom prst="rect">
            <a:avLst/>
          </a:prstGeom>
          <a:solidFill>
            <a:srgbClr val="1E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02920" y="5120640"/>
            <a:ext cx="11292840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85800" y="523036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8A9A"/>
                </a:solidFill>
                <a:latin typeface="Calibri"/>
              </a:rPr>
              <a:t>品牌影響力目標：強化 AI 講師定位，推廣 Adobe 最新技術應用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85800" y="5623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5F5F5"/>
                </a:solidFill>
                <a:latin typeface="Calibri"/>
              </a:rPr>
              <a:t>透過影音 ＋ 文字多元管道，持續輸出高品質技術知識，建立專業社群影響力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B1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1868912" cy="1051560"/>
          </a:xfrm>
          <a:prstGeom prst="rect">
            <a:avLst/>
          </a:prstGeom>
          <a:solidFill>
            <a:srgbClr val="2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25603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三、技術支援與工程項目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3200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1" i="0">
                <a:solidFill>
                  <a:srgbClr val="EB1700"/>
                </a:solidFill>
                <a:latin typeface="Calibri"/>
              </a:rPr>
              <a:t>本月共計 59 筆案件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188720"/>
            <a:ext cx="4114800" cy="3200400"/>
          </a:xfrm>
          <a:prstGeom prst="rect">
            <a:avLst/>
          </a:prstGeom>
          <a:solidFill>
            <a:srgbClr val="25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188720"/>
            <a:ext cx="4114800" cy="73152"/>
          </a:xfrm>
          <a:prstGeom prst="rect">
            <a:avLst/>
          </a:prstGeom>
          <a:solidFill>
            <a:srgbClr val="EB1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1463040"/>
            <a:ext cx="4114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600" b="1" i="0">
                <a:solidFill>
                  <a:srgbClr val="EB1700"/>
                </a:solidFill>
                <a:latin typeface="Calibri"/>
              </a:rPr>
              <a:t>59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0632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技術案件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520440"/>
            <a:ext cx="4114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A8A9A"/>
                </a:solidFill>
                <a:latin typeface="Calibri"/>
              </a:rPr>
              <a:t>本月處理總計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0" y="1234440"/>
            <a:ext cx="3291840" cy="1463040"/>
          </a:xfrm>
          <a:prstGeom prst="rect">
            <a:avLst/>
          </a:prstGeom>
          <a:solidFill>
            <a:srgbClr val="25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029200" y="1234440"/>
            <a:ext cx="3291840" cy="54864"/>
          </a:xfrm>
          <a:prstGeom prst="rect">
            <a:avLst/>
          </a:prstGeom>
          <a:solidFill>
            <a:srgbClr val="EB1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193792" y="1362456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B1700"/>
                </a:solidFill>
                <a:latin typeface="Calibri"/>
              </a:rPr>
              <a:t>Adobe Admin Console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93792" y="1764792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5F5F5"/>
                </a:solidFill>
                <a:latin typeface="Calibri"/>
              </a:rPr>
              <a:t>權限管理與設定最佳化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549640" y="1234440"/>
            <a:ext cx="3291840" cy="1463040"/>
          </a:xfrm>
          <a:prstGeom prst="rect">
            <a:avLst/>
          </a:prstGeom>
          <a:solidFill>
            <a:srgbClr val="25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549640" y="1234440"/>
            <a:ext cx="3291840" cy="54864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714232" y="1362456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B4D8"/>
                </a:solidFill>
                <a:latin typeface="Calibri"/>
              </a:rPr>
              <a:t>Acrobat Sign 整合諮詢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14232" y="1764792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5F5F5"/>
                </a:solidFill>
                <a:latin typeface="Calibri"/>
              </a:rPr>
              <a:t>企業電子簽署工作流建置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0" y="2926080"/>
            <a:ext cx="3291840" cy="1463040"/>
          </a:xfrm>
          <a:prstGeom prst="rect">
            <a:avLst/>
          </a:prstGeom>
          <a:solidFill>
            <a:srgbClr val="25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029200" y="2926080"/>
            <a:ext cx="3291840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193792" y="3054096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35"/>
                </a:solidFill>
                <a:latin typeface="Calibri"/>
              </a:rPr>
              <a:t>Creative Cloud 企業部署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93792" y="3456432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5F5F5"/>
                </a:solidFill>
                <a:latin typeface="Calibri"/>
              </a:rPr>
              <a:t>大規模部署問題排除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549640" y="2926080"/>
            <a:ext cx="3291840" cy="1463040"/>
          </a:xfrm>
          <a:prstGeom prst="rect">
            <a:avLst/>
          </a:prstGeom>
          <a:solidFill>
            <a:srgbClr val="25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8549640" y="2926080"/>
            <a:ext cx="3291840" cy="54864"/>
          </a:xfrm>
          <a:prstGeom prst="rect">
            <a:avLst/>
          </a:prstGeom>
          <a:solidFill>
            <a:srgbClr val="A8D8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714232" y="3054096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8D884"/>
                </a:solidFill>
                <a:latin typeface="Calibri"/>
              </a:rPr>
              <a:t>系統整合與維運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14232" y="3456432"/>
            <a:ext cx="3017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5F5F5"/>
                </a:solidFill>
                <a:latin typeface="Calibri"/>
              </a:rPr>
              <a:t>API 整合、效能調校與維護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4663440"/>
            <a:ext cx="11292840" cy="1645920"/>
          </a:xfrm>
          <a:prstGeom prst="rect">
            <a:avLst/>
          </a:prstGeom>
          <a:solidFill>
            <a:srgbClr val="1E1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548640" y="4663440"/>
            <a:ext cx="54864" cy="16459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22960" y="4736592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35"/>
                </a:solidFill>
                <a:latin typeface="Calibri"/>
              </a:rPr>
              <a:t>案件處理重點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51206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5F5F5"/>
                </a:solidFill>
                <a:latin typeface="Calibri"/>
              </a:rPr>
              <a:t>• 涵蓋系統整合、技術諮詢與日常維運三大面向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" y="546811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5F5F5"/>
                </a:solidFill>
                <a:latin typeface="Calibri"/>
              </a:rPr>
              <a:t>• 持續維持高效率的案件處理節奏，確保企業端服務不中斷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" y="5815583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F5F5F5"/>
                </a:solidFill>
                <a:latin typeface="Calibri"/>
              </a:rPr>
              <a:t>• 跨部門協作溝通，提升整體問題解決速度與客戶滿意度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B1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320040" y="0"/>
            <a:ext cx="11868912" cy="1051560"/>
          </a:xfrm>
          <a:prstGeom prst="rect">
            <a:avLst/>
          </a:prstGeom>
          <a:solidFill>
            <a:srgbClr val="2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256032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四、下月展望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0" y="347472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8A8A9A"/>
                </a:solidFill>
                <a:latin typeface="Calibri"/>
              </a:rPr>
              <a:t>May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25880"/>
            <a:ext cx="10789920" cy="1417320"/>
          </a:xfrm>
          <a:prstGeom prst="rect">
            <a:avLst/>
          </a:prstGeom>
          <a:solidFill>
            <a:srgbClr val="25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325880"/>
            <a:ext cx="54864" cy="1417320"/>
          </a:xfrm>
          <a:prstGeom prst="rect">
            <a:avLst/>
          </a:prstGeom>
          <a:solidFill>
            <a:srgbClr val="EB1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508760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EB1700"/>
                </a:solidFill>
                <a:latin typeface="Calibri"/>
              </a:rPr>
              <a:t>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83080" y="1554480"/>
            <a:ext cx="36576" cy="914400"/>
          </a:xfrm>
          <a:prstGeom prst="rect">
            <a:avLst/>
          </a:prstGeom>
          <a:solidFill>
            <a:srgbClr val="3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965960" y="1435607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優化 AI 培訓教材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65960" y="1892807"/>
            <a:ext cx="82296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5F5F5"/>
                </a:solidFill>
                <a:latin typeface="Calibri"/>
              </a:rPr>
              <a:t>持續深化「生成式 AI」培訓課程，增加更多企業實際應用案例，提升學員落地能力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2971800"/>
            <a:ext cx="10789920" cy="1417320"/>
          </a:xfrm>
          <a:prstGeom prst="rect">
            <a:avLst/>
          </a:prstGeom>
          <a:solidFill>
            <a:srgbClr val="25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48640" y="2971800"/>
            <a:ext cx="54864" cy="14173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" y="3154680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00B4D8"/>
                </a:solidFill>
                <a:latin typeface="Calibri"/>
              </a:rPr>
              <a:t>02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783080" y="3200400"/>
            <a:ext cx="36576" cy="914400"/>
          </a:xfrm>
          <a:prstGeom prst="rect">
            <a:avLst/>
          </a:prstGeom>
          <a:solidFill>
            <a:srgbClr val="3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965960" y="308152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次世代 Firefly 模型深度測試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65960" y="3538728"/>
            <a:ext cx="82296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5F5F5"/>
                </a:solidFill>
                <a:latin typeface="Calibri"/>
              </a:rPr>
              <a:t>針對 Adobe × NVIDIA 合作的新一代 Firefly 模型進行深度測試，預備下季技術專題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617720"/>
            <a:ext cx="10789920" cy="1417320"/>
          </a:xfrm>
          <a:prstGeom prst="rect">
            <a:avLst/>
          </a:prstGeom>
          <a:solidFill>
            <a:srgbClr val="25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48640" y="4617720"/>
            <a:ext cx="54864" cy="141732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77240" y="4800600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6B35"/>
                </a:solidFill>
                <a:latin typeface="Calibri"/>
              </a:rPr>
              <a:t>03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783080" y="4846320"/>
            <a:ext cx="36576" cy="914400"/>
          </a:xfrm>
          <a:prstGeom prst="rect">
            <a:avLst/>
          </a:prstGeom>
          <a:solidFill>
            <a:srgbClr val="3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965960" y="4727448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alibri"/>
              </a:rPr>
              <a:t>提升案件結案效率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65960" y="5184648"/>
            <a:ext cx="8229600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F5F5F5"/>
                </a:solidFill>
                <a:latin typeface="Calibri"/>
              </a:rPr>
              <a:t>維持技術案件處理高效率，目標將平均結案時間進一步縮短，優化企業端服務體驗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6446520"/>
            <a:ext cx="11868912" cy="347472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4008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8A9A"/>
                </a:solidFill>
                <a:latin typeface="Calibri"/>
              </a:rPr>
              <a:t>Adobe 技術工程師 ／ 特約講師  ·  工作進度報告  ·  2026 年 4 月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D612F9-C3F3-D38E-833A-F8B2AD16E2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70DC171-B17C-5EEC-3834-70D3A4917279}"/>
              </a:ext>
            </a:extLst>
          </p:cNvPr>
          <p:cNvSpPr/>
          <p:nvPr/>
        </p:nvSpPr>
        <p:spPr>
          <a:xfrm>
            <a:off x="0" y="273044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D1747DB-552C-F681-E18B-00DDC130C9FC}"/>
              </a:ext>
            </a:extLst>
          </p:cNvPr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B1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4A0E37B-47C0-1663-189B-70A21D299963}"/>
              </a:ext>
            </a:extLst>
          </p:cNvPr>
          <p:cNvSpPr/>
          <p:nvPr/>
        </p:nvSpPr>
        <p:spPr>
          <a:xfrm>
            <a:off x="320040" y="0"/>
            <a:ext cx="11868912" cy="1051560"/>
          </a:xfrm>
          <a:prstGeom prst="rect">
            <a:avLst/>
          </a:prstGeom>
          <a:solidFill>
            <a:srgbClr val="2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A306D96-06E3-E8C5-E258-6FFDFFD584FD}"/>
              </a:ext>
            </a:extLst>
          </p:cNvPr>
          <p:cNvSpPr txBox="1"/>
          <p:nvPr/>
        </p:nvSpPr>
        <p:spPr>
          <a:xfrm>
            <a:off x="640080" y="256032"/>
            <a:ext cx="8229600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600" b="1" dirty="0" err="1">
                <a:solidFill>
                  <a:srgbClr val="FFFFFF"/>
                </a:solidFill>
                <a:latin typeface="Calibri"/>
              </a:rPr>
              <a:t>五</a:t>
            </a:r>
            <a:r>
              <a:rPr sz="2600" b="1" i="0" dirty="0">
                <a:solidFill>
                  <a:srgbClr val="FFFFFF"/>
                </a:solidFill>
                <a:latin typeface="Calibri"/>
              </a:rPr>
              <a:t>、</a:t>
            </a:r>
            <a:r>
              <a:rPr lang="zh-TW" altLang="en-US" sz="2600" b="1" i="0" dirty="0">
                <a:solidFill>
                  <a:srgbClr val="FFFFFF"/>
                </a:solidFill>
                <a:latin typeface="Calibri"/>
              </a:rPr>
              <a:t>統計收費</a:t>
            </a:r>
            <a:endParaRPr sz="26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F57DC94-B7E1-E178-B1DE-527A73E0D3F7}"/>
              </a:ext>
            </a:extLst>
          </p:cNvPr>
          <p:cNvSpPr txBox="1"/>
          <p:nvPr/>
        </p:nvSpPr>
        <p:spPr>
          <a:xfrm>
            <a:off x="10241280" y="347472"/>
            <a:ext cx="1737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 i="0">
                <a:solidFill>
                  <a:srgbClr val="8A8A9A"/>
                </a:solidFill>
                <a:latin typeface="Calibri"/>
              </a:rPr>
              <a:t>May 2026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A1219E3-2297-09DE-9702-714E7053E0D2}"/>
              </a:ext>
            </a:extLst>
          </p:cNvPr>
          <p:cNvSpPr/>
          <p:nvPr/>
        </p:nvSpPr>
        <p:spPr>
          <a:xfrm>
            <a:off x="548640" y="1325880"/>
            <a:ext cx="10789920" cy="1417320"/>
          </a:xfrm>
          <a:prstGeom prst="rect">
            <a:avLst/>
          </a:prstGeom>
          <a:solidFill>
            <a:srgbClr val="25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C7AE21D-A336-E7E5-58A3-61A03549BD2E}"/>
              </a:ext>
            </a:extLst>
          </p:cNvPr>
          <p:cNvSpPr/>
          <p:nvPr/>
        </p:nvSpPr>
        <p:spPr>
          <a:xfrm>
            <a:off x="548640" y="1325880"/>
            <a:ext cx="54864" cy="1417320"/>
          </a:xfrm>
          <a:prstGeom prst="rect">
            <a:avLst/>
          </a:prstGeom>
          <a:solidFill>
            <a:srgbClr val="EB1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9D6A29A-55F3-97B7-5E7D-68CDD2218B6B}"/>
              </a:ext>
            </a:extLst>
          </p:cNvPr>
          <p:cNvSpPr txBox="1"/>
          <p:nvPr/>
        </p:nvSpPr>
        <p:spPr>
          <a:xfrm>
            <a:off x="793933" y="1633814"/>
            <a:ext cx="234405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TW" altLang="en-US" sz="4000" b="1" i="0" dirty="0">
                <a:solidFill>
                  <a:srgbClr val="EB1700"/>
                </a:solidFill>
                <a:latin typeface="Hiragino Sans GB W3" panose="020B0300000000000000" pitchFamily="34" charset="-128"/>
                <a:ea typeface="Hiragino Sans GB W3" panose="020B0300000000000000" pitchFamily="34" charset="-128"/>
              </a:rPr>
              <a:t>虛擬收費</a:t>
            </a:r>
            <a:endParaRPr sz="4000" b="1" i="0" dirty="0">
              <a:solidFill>
                <a:srgbClr val="EB1700"/>
              </a:solidFill>
              <a:latin typeface="Hiragino Sans GB W3" panose="020B0300000000000000" pitchFamily="34" charset="-128"/>
              <a:ea typeface="Hiragino Sans GB W3" panose="020B0300000000000000" pitchFamily="34" charset="-128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4ACD337-BC94-E7CF-FCB6-36A04B66E3BF}"/>
              </a:ext>
            </a:extLst>
          </p:cNvPr>
          <p:cNvSpPr/>
          <p:nvPr/>
        </p:nvSpPr>
        <p:spPr>
          <a:xfrm>
            <a:off x="3366587" y="1554480"/>
            <a:ext cx="36576" cy="914400"/>
          </a:xfrm>
          <a:prstGeom prst="rect">
            <a:avLst/>
          </a:prstGeom>
          <a:solidFill>
            <a:srgbClr val="3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475D1AE-29CA-5407-525D-5F1AC92842BD}"/>
              </a:ext>
            </a:extLst>
          </p:cNvPr>
          <p:cNvSpPr txBox="1"/>
          <p:nvPr/>
        </p:nvSpPr>
        <p:spPr>
          <a:xfrm>
            <a:off x="6688644" y="1750814"/>
            <a:ext cx="200840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/>
            </a:pPr>
            <a:r>
              <a:rPr lang="en" altLang="zh-TW" sz="2800" dirty="0">
                <a:solidFill>
                  <a:schemeClr val="bg1"/>
                </a:solidFill>
              </a:rPr>
              <a:t>NT$ 20,000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C6FF93B-83BB-A0D5-57F7-76B29A5A951C}"/>
              </a:ext>
            </a:extLst>
          </p:cNvPr>
          <p:cNvSpPr/>
          <p:nvPr/>
        </p:nvSpPr>
        <p:spPr>
          <a:xfrm>
            <a:off x="548640" y="2971800"/>
            <a:ext cx="10789920" cy="1417320"/>
          </a:xfrm>
          <a:prstGeom prst="rect">
            <a:avLst/>
          </a:prstGeom>
          <a:solidFill>
            <a:srgbClr val="2525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11C1503-3C41-874A-818C-F601A45A82BA}"/>
              </a:ext>
            </a:extLst>
          </p:cNvPr>
          <p:cNvSpPr/>
          <p:nvPr/>
        </p:nvSpPr>
        <p:spPr>
          <a:xfrm>
            <a:off x="548640" y="2971800"/>
            <a:ext cx="54864" cy="14173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2975977D-06E1-3897-3381-B6742501982F}"/>
              </a:ext>
            </a:extLst>
          </p:cNvPr>
          <p:cNvSpPr/>
          <p:nvPr/>
        </p:nvSpPr>
        <p:spPr>
          <a:xfrm>
            <a:off x="320040" y="6446520"/>
            <a:ext cx="11868912" cy="347472"/>
          </a:xfrm>
          <a:prstGeom prst="rect">
            <a:avLst/>
          </a:prstGeom>
          <a:solidFill>
            <a:srgbClr val="121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8DF8071-E861-69AA-9D57-4AFC84324606}"/>
              </a:ext>
            </a:extLst>
          </p:cNvPr>
          <p:cNvSpPr txBox="1"/>
          <p:nvPr/>
        </p:nvSpPr>
        <p:spPr>
          <a:xfrm>
            <a:off x="640080" y="649224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A8A9A"/>
                </a:solidFill>
                <a:latin typeface="Calibri"/>
              </a:rPr>
              <a:t>Adobe 技術工程師 ／ 特約講師  ·  工作進度報告  ·  2026 年 4 月</a:t>
            </a:r>
          </a:p>
        </p:txBody>
      </p:sp>
      <p:sp>
        <p:nvSpPr>
          <p:cNvPr id="27" name="Rectangle 9">
            <a:extLst>
              <a:ext uri="{FF2B5EF4-FFF2-40B4-BE49-F238E27FC236}">
                <a16:creationId xmlns:a16="http://schemas.microsoft.com/office/drawing/2014/main" id="{A465DCF3-8B3F-1F41-44AD-1733EF974BF3}"/>
              </a:ext>
            </a:extLst>
          </p:cNvPr>
          <p:cNvSpPr/>
          <p:nvPr/>
        </p:nvSpPr>
        <p:spPr>
          <a:xfrm>
            <a:off x="3366587" y="3202527"/>
            <a:ext cx="36576" cy="914400"/>
          </a:xfrm>
          <a:prstGeom prst="rect">
            <a:avLst/>
          </a:prstGeom>
          <a:solidFill>
            <a:srgbClr val="3A3A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8">
            <a:extLst>
              <a:ext uri="{FF2B5EF4-FFF2-40B4-BE49-F238E27FC236}">
                <a16:creationId xmlns:a16="http://schemas.microsoft.com/office/drawing/2014/main" id="{28C42900-2F43-8F0C-BB92-BAA5CBD7B20D}"/>
              </a:ext>
            </a:extLst>
          </p:cNvPr>
          <p:cNvSpPr txBox="1"/>
          <p:nvPr/>
        </p:nvSpPr>
        <p:spPr>
          <a:xfrm>
            <a:off x="793933" y="3292493"/>
            <a:ext cx="234405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TW" altLang="en-US" sz="4000" b="1" i="0" dirty="0">
                <a:solidFill>
                  <a:srgbClr val="00B5D8"/>
                </a:solidFill>
                <a:latin typeface="Hiragino Sans GB W3" panose="020B0300000000000000" pitchFamily="34" charset="-128"/>
                <a:ea typeface="Hiragino Sans GB W3" panose="020B0300000000000000" pitchFamily="34" charset="-128"/>
              </a:rPr>
              <a:t>實際收費</a:t>
            </a:r>
            <a:endParaRPr sz="4000" b="1" i="0" dirty="0">
              <a:solidFill>
                <a:srgbClr val="00B5D8"/>
              </a:solidFill>
              <a:latin typeface="Hiragino Sans GB W3" panose="020B0300000000000000" pitchFamily="34" charset="-128"/>
              <a:ea typeface="Hiragino Sans GB W3" panose="020B0300000000000000" pitchFamily="34" charset="-128"/>
            </a:endParaRPr>
          </a:p>
        </p:txBody>
      </p:sp>
      <p:sp>
        <p:nvSpPr>
          <p:cNvPr id="29" name="TextBox 10">
            <a:extLst>
              <a:ext uri="{FF2B5EF4-FFF2-40B4-BE49-F238E27FC236}">
                <a16:creationId xmlns:a16="http://schemas.microsoft.com/office/drawing/2014/main" id="{64DC3A45-3769-D5BC-7B4B-7E42F8206168}"/>
              </a:ext>
            </a:extLst>
          </p:cNvPr>
          <p:cNvSpPr txBox="1"/>
          <p:nvPr/>
        </p:nvSpPr>
        <p:spPr>
          <a:xfrm>
            <a:off x="6688644" y="3377595"/>
            <a:ext cx="200840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400" b="1"/>
            </a:pPr>
            <a:r>
              <a:rPr lang="en" altLang="zh-TW" sz="2800" dirty="0">
                <a:solidFill>
                  <a:schemeClr val="bg1"/>
                </a:solidFill>
              </a:rPr>
              <a:t>NT$ </a:t>
            </a:r>
            <a:r>
              <a:rPr lang="en-US" altLang="zh-TW" sz="2800" dirty="0">
                <a:solidFill>
                  <a:schemeClr val="bg1"/>
                </a:solidFill>
              </a:rPr>
              <a:t>6</a:t>
            </a:r>
            <a:r>
              <a:rPr lang="en" altLang="zh-TW" sz="2800" dirty="0">
                <a:solidFill>
                  <a:schemeClr val="bg1"/>
                </a:solidFill>
              </a:rPr>
              <a:t>,000</a:t>
            </a:r>
          </a:p>
        </p:txBody>
      </p:sp>
    </p:spTree>
    <p:extLst>
      <p:ext uri="{BB962C8B-B14F-4D97-AF65-F5344CB8AC3E}">
        <p14:creationId xmlns:p14="http://schemas.microsoft.com/office/powerpoint/2010/main" val="24488270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343</Words>
  <Application>Microsoft Office PowerPoint</Application>
  <PresentationFormat>自訂</PresentationFormat>
  <Paragraphs>98</Paragraphs>
  <Slides>7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11" baseType="lpstr">
      <vt:lpstr>Hiragino Sans GB W3</vt:lpstr>
      <vt:lpstr>Arial</vt:lpstr>
      <vt:lpstr>Calibri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Chung, Allen</cp:lastModifiedBy>
  <cp:revision>2</cp:revision>
  <dcterms:created xsi:type="dcterms:W3CDTF">2013-01-27T09:14:16Z</dcterms:created>
  <dcterms:modified xsi:type="dcterms:W3CDTF">2026-05-15T02:01:24Z</dcterms:modified>
  <cp:category/>
</cp:coreProperties>
</file>