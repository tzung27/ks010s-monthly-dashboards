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83480" cy="91440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83480" y="0"/>
            <a:ext cx="7205472" cy="6858000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0" y="-457200"/>
            <a:ext cx="5760720" cy="5760720"/>
          </a:xfrm>
          <a:prstGeom prst="ellipse">
            <a:avLst/>
          </a:prstGeom>
          <a:noFill/>
          <a:ln w="1524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840480"/>
            <a:ext cx="3474720" cy="3474720"/>
          </a:xfrm>
          <a:prstGeom prst="ellipse">
            <a:avLst/>
          </a:prstGeom>
          <a:solidFill>
            <a:srgbClr val="D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03520" y="914400"/>
            <a:ext cx="1005840" cy="1005840"/>
          </a:xfrm>
          <a:prstGeom prst="ellipse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45720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28600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KS010S  部門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7315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BAE6FD"/>
                </a:solidFill>
                <a:latin typeface="微軟正黑體"/>
              </a:rPr>
              <a:t>2026  年  4 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3444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微軟正黑體"/>
              </a:rPr>
              <a:t>部門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92024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微軟正黑體"/>
              </a:rPr>
              <a:t>工作月報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16352"/>
            <a:ext cx="3474720" cy="50292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4436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1">
                <a:solidFill>
                  <a:srgbClr val="A8C4E0"/>
                </a:solidFill>
                <a:latin typeface="微軟正黑體"/>
              </a:rPr>
              <a:t>以數據為基，以 AI 為翼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101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1">
                <a:solidFill>
                  <a:srgbClr val="F0D585"/>
                </a:solidFill>
                <a:latin typeface="微軟正黑體"/>
              </a:rPr>
              <a:t>超越每一個里程碑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404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A9A"/>
                </a:solidFill>
                <a:latin typeface="微軟正黑體"/>
              </a:rPr>
              <a:t>主管月會 ‧ 總經理簡報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09160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071E14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4773168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731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  <a:latin typeface="微軟正黑體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7731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D399"/>
                </a:solidFill>
                <a:latin typeface="微軟正黑體"/>
              </a:rPr>
              <a:t>AI 驅動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9834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E7B7"/>
                </a:solidFill>
                <a:latin typeface="微軟正黑體"/>
              </a:rPr>
              <a:t>報告 × 儀表板 × 簡報  全程一條龍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92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D6B"/>
                </a:solidFill>
                <a:latin typeface="微軟正黑體"/>
              </a:rPr>
              <a:t>2026.05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10515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1051560"/>
            <a:ext cx="324612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1188719"/>
            <a:ext cx="30632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D8"/>
                </a:solidFill>
                <a:latin typeface="微軟正黑體"/>
              </a:rPr>
              <a:t>379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1874519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075688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當月服務案件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05088" y="10515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05088" y="1051560"/>
            <a:ext cx="32461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1188719"/>
            <a:ext cx="30632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微軟正黑體"/>
              </a:rPr>
              <a:t>75,000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1874519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NT$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2075688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實際收費金額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2624328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BE8"/>
          </a:solidFill>
          <a:ln w="19050">
            <a:solidFill>
              <a:srgbClr val="B88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57800" y="2624328"/>
            <a:ext cx="3246120" cy="64008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2761488"/>
            <a:ext cx="30632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861C"/>
                </a:solidFill>
                <a:latin typeface="微軟正黑體"/>
              </a:rPr>
              <a:t>216,500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447288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NT$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648456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虛擬服務估值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05088" y="2624328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05088" y="2624328"/>
            <a:ext cx="32461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96528" y="2761488"/>
            <a:ext cx="30632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微軟正黑體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3447288"/>
            <a:ext cx="3063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3648456"/>
            <a:ext cx="3063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部門服務專員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649224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微軟正黑體"/>
              </a:rPr>
              <a:t>KS010S · 2026年4月 工作月報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12188952" cy="1078992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軟正黑體"/>
              </a:rPr>
              <a:t>執行摘要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E6FD"/>
                </a:solidFill>
                <a:latin typeface="微軟正黑體"/>
              </a:rPr>
              <a:t>2026年4月 ‧ 部門整體表現一覽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61288"/>
            <a:ext cx="914400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298448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298448"/>
            <a:ext cx="109728" cy="658368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1A3460"/>
                </a:solidFill>
                <a:latin typeface="微軟正黑體"/>
              </a:rPr>
              <a:t>每一件案件，都是客戶信任的具體展現；每一筆數字，都是團隊努力的真實印記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084831"/>
            <a:ext cx="2633472" cy="12344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63347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21991"/>
            <a:ext cx="245059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D8"/>
                </a:solidFill>
                <a:latin typeface="微軟正黑體"/>
              </a:rPr>
              <a:t>379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836468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71800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當月服務案件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2084831"/>
            <a:ext cx="2633472" cy="12344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2084831"/>
            <a:ext cx="263347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221991"/>
            <a:ext cx="245059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  <a:latin typeface="微軟正黑體"/>
              </a:rPr>
              <a:t>75,000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836468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NT$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971800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實際收費金額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2084831"/>
            <a:ext cx="2633472" cy="1234440"/>
          </a:xfrm>
          <a:prstGeom prst="roundRect">
            <a:avLst>
              <a:gd name="adj" fmla="val 8000"/>
            </a:avLst>
          </a:prstGeom>
          <a:solidFill>
            <a:srgbClr val="FFFBE8"/>
          </a:solidFill>
          <a:ln w="19050">
            <a:solidFill>
              <a:srgbClr val="B88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3328" y="2084831"/>
            <a:ext cx="2633472" cy="64008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2221991"/>
            <a:ext cx="245059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861C"/>
                </a:solidFill>
                <a:latin typeface="微軟正黑體"/>
              </a:rPr>
              <a:t>216,500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836468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NT$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971800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虛擬服務估值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084831"/>
            <a:ext cx="2633472" cy="1234440"/>
          </a:xfrm>
          <a:prstGeom prst="roundRect">
            <a:avLst>
              <a:gd name="adj" fmla="val 8000"/>
            </a:avLst>
          </a:prstGeom>
          <a:solidFill>
            <a:srgbClr val="EEF9FC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2084831"/>
            <a:ext cx="2633472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9408" y="2221991"/>
            <a:ext cx="2450591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891B2"/>
                </a:solidFill>
                <a:latin typeface="微軟正黑體"/>
              </a:rPr>
              <a:t>3+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2836468"/>
            <a:ext cx="2450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微軟正黑體"/>
              </a:rPr>
              <a:t>產品線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2971800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B1929"/>
                </a:solidFill>
                <a:latin typeface="微軟正黑體"/>
              </a:rPr>
              <a:t>服務技術範疇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456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929"/>
                </a:solidFill>
                <a:latin typeface="微軟正黑體"/>
              </a:rPr>
              <a:t>▌ 本月五大亮點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858768"/>
            <a:ext cx="114300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858768"/>
            <a:ext cx="402336" cy="402336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858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  <a:latin typeface="微軟正黑體"/>
              </a:rPr>
              <a:t>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90448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929"/>
                </a:solidFill>
                <a:latin typeface="微軟正黑體"/>
              </a:rPr>
              <a:t>NT$75,000 實收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3904487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William 完成奇美醫院 iOS 高階培訓，創造本月最高實際收費，客戶滿意度極佳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4288536"/>
            <a:ext cx="114300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4288536"/>
            <a:ext cx="402336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2885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  <a:latin typeface="微軟正黑體"/>
              </a:rPr>
              <a:t>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433425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929"/>
                </a:solidFill>
                <a:latin typeface="微軟正黑體"/>
              </a:rPr>
              <a:t>117 件裝置管理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334255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Denny 單月處理量最高，彰化銀行 / 中華航空大量 iPad DFU 圓滿完成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4718304"/>
            <a:ext cx="114300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4718304"/>
            <a:ext cx="402336" cy="40233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7183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  <a:latin typeface="微軟正黑體"/>
              </a:rPr>
              <a:t>☁️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4764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929"/>
                </a:solidFill>
                <a:latin typeface="微軟正黑體"/>
              </a:rPr>
              <a:t>Azure Sentinel POC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764024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Lucas 成功開通 Sentinel 安全監控 POC，為政府與金融客戶資安升級奠定基礎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5148072"/>
            <a:ext cx="11430000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5148072"/>
            <a:ext cx="402336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514807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  <a:latin typeface="微軟正黑體"/>
              </a:rPr>
              <a:t>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51937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929"/>
                </a:solidFill>
                <a:latin typeface="微軟正黑體"/>
              </a:rPr>
              <a:t>Firefly AI 應用講座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19379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Jimmy 於雲科大舉辦 AI 設計講座並發布教學影片，Adobe 品牌聲量顯著提升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" y="5577840"/>
            <a:ext cx="11430000" cy="402336"/>
          </a:xfrm>
          <a:prstGeom prst="roundRect">
            <a:avLst>
              <a:gd name="adj" fmla="val 8000"/>
            </a:avLst>
          </a:prstGeom>
          <a:solidFill>
            <a:srgbClr val="071E14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" y="5577840"/>
            <a:ext cx="402336" cy="40233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" y="55778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11827"/>
                </a:solidFill>
                <a:latin typeface="微軟正黑體"/>
              </a:rPr>
              <a:t>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" y="562355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4D399"/>
                </a:solidFill>
                <a:latin typeface="微軟正黑體"/>
              </a:rPr>
              <a:t>AI 月報一條龍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5623559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E7B7"/>
                </a:solidFill>
                <a:latin typeface="微軟正黑體"/>
              </a:rPr>
              <a:t>本月報告、互動儀表板、本簡報均由 AI 工具協助完成，展現部門數位轉型實力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12188952" cy="1078992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軟正黑體"/>
              </a:rPr>
              <a:t>個人績效一覽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E6FD"/>
                </a:solidFill>
                <a:latin typeface="微軟正黑體"/>
              </a:rPr>
              <a:t>5 位服務專員 ‧ 案件數 ‧ 虛擬費用 ‧ 實收費用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61288"/>
            <a:ext cx="914400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371600"/>
            <a:ext cx="2231136" cy="507492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371600"/>
            <a:ext cx="2231136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264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軟正黑體"/>
              </a:rPr>
              <a:t>Aaron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65376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微軟正黑體"/>
              </a:rPr>
              <a:t>全能型 · 雲端支援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359152"/>
            <a:ext cx="20482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D4ED8"/>
                </a:solidFill>
                <a:latin typeface="微軟正黑體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98094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3310128"/>
            <a:ext cx="1865376" cy="36576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" y="3456432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5112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虛擬費用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216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D4ED8"/>
                </a:solidFill>
                <a:latin typeface="微軟正黑體"/>
              </a:rPr>
              <a:t>NT$51,100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4352544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440740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實際收費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CA3AF"/>
                </a:solidFill>
                <a:latin typeface="微軟正黑體"/>
              </a:rPr>
              <a:t>NT$—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1371600"/>
            <a:ext cx="2231136" cy="50749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1371600"/>
            <a:ext cx="2231136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14264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軟正黑體"/>
              </a:rPr>
              <a:t>Denny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1865376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微軟正黑體"/>
              </a:rPr>
              <a:t>端點管理 · 資安主力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359152"/>
            <a:ext cx="20482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59669"/>
                </a:solidFill>
                <a:latin typeface="微軟正黑體"/>
              </a:rPr>
              <a:t>117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98094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310128"/>
            <a:ext cx="1865376" cy="36576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16352" y="3456432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35112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虛擬費用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37216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微軟正黑體"/>
              </a:rPr>
              <a:t>NT$83,200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" y="4352544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440740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實際收費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" y="4617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CA3AF"/>
                </a:solidFill>
                <a:latin typeface="微軟正黑體"/>
              </a:rPr>
              <a:t>NT$—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488" y="1371600"/>
            <a:ext cx="2231136" cy="5074920"/>
          </a:xfrm>
          <a:prstGeom prst="roundRect">
            <a:avLst>
              <a:gd name="adj" fmla="val 8000"/>
            </a:avLst>
          </a:prstGeom>
          <a:solidFill>
            <a:srgbClr val="F6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47488" y="1371600"/>
            <a:ext cx="2231136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14264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軟正黑體"/>
              </a:rPr>
              <a:t>William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1865376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微軟正黑體"/>
              </a:rPr>
              <a:t>高價值 · 服務貢獻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2359152"/>
            <a:ext cx="20482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7C3AED"/>
                </a:solidFill>
                <a:latin typeface="微軟正黑體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298094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0368" y="3310128"/>
            <a:ext cx="1865376" cy="36576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212080" y="3456432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35112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虛擬費用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48656" y="37216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C3AED"/>
                </a:solidFill>
                <a:latin typeface="微軟正黑體"/>
              </a:rPr>
              <a:t>NT$52,800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4352544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0" y="440740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實際收費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8656" y="4617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59669"/>
                </a:solidFill>
                <a:latin typeface="微軟正黑體"/>
              </a:rPr>
              <a:t>NT$75,000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12080" y="5285232"/>
            <a:ext cx="1901952" cy="457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5303520"/>
            <a:ext cx="1901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2400E"/>
                </a:solidFill>
                <a:latin typeface="微軟正黑體"/>
              </a:rPr>
              <a:t>★  本月最高實收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43216" y="1371600"/>
            <a:ext cx="2231136" cy="5074920"/>
          </a:xfrm>
          <a:prstGeom prst="roundRect">
            <a:avLst>
              <a:gd name="adj" fmla="val 8000"/>
            </a:avLst>
          </a:prstGeom>
          <a:solidFill>
            <a:srgbClr val="FFFB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43216" y="1371600"/>
            <a:ext cx="2231136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944" y="14264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軟正黑體"/>
              </a:rPr>
              <a:t>Lucas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4656" y="1865376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微軟正黑體"/>
              </a:rPr>
              <a:t>Azure · 雲端架構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34656" y="2359152"/>
            <a:ext cx="20482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97706"/>
                </a:solidFill>
                <a:latin typeface="微軟正黑體"/>
              </a:rPr>
              <a:t>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8094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26096" y="3310128"/>
            <a:ext cx="1865376" cy="36576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607808" y="3456432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99248" y="35112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虛擬費用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44384" y="37216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97706"/>
                </a:solidFill>
                <a:latin typeface="微軟正黑體"/>
              </a:rPr>
              <a:t>NT$29,400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07808" y="4352544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99248" y="440740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實際收費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44384" y="4617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CA3AF"/>
                </a:solidFill>
                <a:latin typeface="微軟正黑體"/>
              </a:rPr>
              <a:t>NT$—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38944" y="1371600"/>
            <a:ext cx="2231136" cy="5074920"/>
          </a:xfrm>
          <a:prstGeom prst="roundRect">
            <a:avLst>
              <a:gd name="adj" fmla="val 8000"/>
            </a:avLst>
          </a:prstGeom>
          <a:solidFill>
            <a:srgbClr val="FF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38944" y="1371600"/>
            <a:ext cx="2231136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48672" y="142646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軟正黑體"/>
              </a:rPr>
              <a:t>Jimmy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30384" y="1865376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微軟正黑體"/>
              </a:rPr>
              <a:t>Adobe/Corel · 負責人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30384" y="2359152"/>
            <a:ext cx="20482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C2626"/>
                </a:solidFill>
                <a:latin typeface="微軟正黑體"/>
              </a:rPr>
              <a:t>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30384" y="298094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微軟正黑體"/>
              </a:rPr>
              <a:t>件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21824" y="3310128"/>
            <a:ext cx="1865376" cy="36576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003536" y="3456432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94976" y="35112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虛擬費用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40112" y="37216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微軟正黑體"/>
              </a:rPr>
              <a:t>—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03536" y="4352544"/>
            <a:ext cx="1901952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94976" y="440740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微軟正黑體"/>
              </a:rPr>
              <a:t>實際收費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40112" y="46177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CA3AF"/>
                </a:solidFill>
                <a:latin typeface="微軟正黑體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126480"/>
            <a:ext cx="12188952" cy="713232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126480"/>
            <a:ext cx="91440" cy="713232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6236208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460"/>
                </a:solidFill>
                <a:latin typeface="微軟正黑體"/>
              </a:rPr>
              <a:t>❝  個人卓越，成就團隊；團隊卓越，創造客戶無可取代的價值  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12188952" cy="1078992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軟正黑體"/>
              </a:rPr>
              <a:t>本月重大里程碑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E6FD"/>
                </a:solidFill>
                <a:latin typeface="微軟正黑體"/>
              </a:rPr>
              <a:t>代表性成就 ‧ 高價值案件 ‧ 客戶突破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61288"/>
            <a:ext cx="914400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417320"/>
            <a:ext cx="2231136" cy="347472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53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軟正黑體"/>
              </a:rPr>
              <a:t>Aaron  96件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764792"/>
            <a:ext cx="2231136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80136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  <a:latin typeface="微軟正黑體"/>
              </a:rPr>
              <a:t>雲端遷移 顧問服務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313432"/>
            <a:ext cx="223113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" y="2496312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496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Cloudiway 跨租戶 郵件遷移諮詢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" y="3813048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67328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GWS → M365 多家客戶遷移輔導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" y="5129784"/>
            <a:ext cx="411480" cy="4114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129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84064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Entra ID 取代 AD 架構規劃完成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1417320"/>
            <a:ext cx="2231136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453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軟正黑體"/>
              </a:rPr>
              <a:t>Denny  117件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764792"/>
            <a:ext cx="2231136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180136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微軟正黑體"/>
              </a:rPr>
              <a:t>裝置管理 最高產出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313432"/>
            <a:ext cx="223113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34640" y="2496312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496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2450592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彰化銀行 大量 iPad DFU ✓</a:t>
            </a:r>
          </a:p>
        </p:txBody>
      </p:sp>
      <p:sp>
        <p:nvSpPr>
          <p:cNvPr id="29" name="Oval 28"/>
          <p:cNvSpPr/>
          <p:nvPr/>
        </p:nvSpPr>
        <p:spPr>
          <a:xfrm>
            <a:off x="2834640" y="3813048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767328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中華航空 ADE 裝置納管 ✓</a:t>
            </a:r>
          </a:p>
        </p:txBody>
      </p:sp>
      <p:sp>
        <p:nvSpPr>
          <p:cNvPr id="32" name="Oval 31"/>
          <p:cNvSpPr/>
          <p:nvPr/>
        </p:nvSpPr>
        <p:spPr>
          <a:xfrm>
            <a:off x="2834640" y="5129784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5129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5084064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Trend Micro Apex One 建置完成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488" y="1417320"/>
            <a:ext cx="2231136" cy="34747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8928" y="1453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軟正黑體"/>
              </a:rPr>
              <a:t>William  43件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47488" y="1764792"/>
            <a:ext cx="2231136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8" y="180136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微軟正黑體"/>
              </a:rPr>
              <a:t>NT$75,000 實收最高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7488" y="2313432"/>
            <a:ext cx="223113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30368" y="249631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2496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05856" y="2450592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奇美醫院 iOS 高階培訓完成</a:t>
            </a:r>
          </a:p>
        </p:txBody>
      </p:sp>
      <p:sp>
        <p:nvSpPr>
          <p:cNvPr id="43" name="Oval 42"/>
          <p:cNvSpPr/>
          <p:nvPr/>
        </p:nvSpPr>
        <p:spPr>
          <a:xfrm>
            <a:off x="5230368" y="381304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5856" y="3767328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Kaspersky 17件 資安管理案件</a:t>
            </a:r>
          </a:p>
        </p:txBody>
      </p:sp>
      <p:sp>
        <p:nvSpPr>
          <p:cNvPr id="46" name="Oval 45"/>
          <p:cNvSpPr/>
          <p:nvPr/>
        </p:nvSpPr>
        <p:spPr>
          <a:xfrm>
            <a:off x="5230368" y="5129784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5129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05856" y="5084064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多家客戶 擴展合約準備中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43216" y="1417320"/>
            <a:ext cx="2231136" cy="34747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34656" y="1453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軟正黑體"/>
              </a:rPr>
              <a:t>Lucas  51件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43216" y="1764792"/>
            <a:ext cx="2231136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34656" y="180136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微軟正黑體"/>
              </a:rPr>
              <a:t>Azure 安全 架構升級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43216" y="2313432"/>
            <a:ext cx="223113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626096" y="2496312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6096" y="2496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1584" y="2450592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Sentinel POC 正式開通 ✓</a:t>
            </a:r>
          </a:p>
        </p:txBody>
      </p:sp>
      <p:sp>
        <p:nvSpPr>
          <p:cNvPr id="57" name="Oval 56"/>
          <p:cNvSpPr/>
          <p:nvPr/>
        </p:nvSpPr>
        <p:spPr>
          <a:xfrm>
            <a:off x="7626096" y="3813048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26096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01584" y="3767328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GPU 配額 提升申請成功</a:t>
            </a:r>
          </a:p>
        </p:txBody>
      </p:sp>
      <p:sp>
        <p:nvSpPr>
          <p:cNvPr id="60" name="Oval 59"/>
          <p:cNvSpPr/>
          <p:nvPr/>
        </p:nvSpPr>
        <p:spPr>
          <a:xfrm>
            <a:off x="7626096" y="5129784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5129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01584" y="5084064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坤侑科技 AWS→Azure 遷移啟動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38944" y="1417320"/>
            <a:ext cx="2231136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30384" y="145389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軟正黑體"/>
              </a:rPr>
              <a:t>Jimmy  72件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38944" y="1764792"/>
            <a:ext cx="2231136" cy="548640"/>
          </a:xfrm>
          <a:prstGeom prst="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30384" y="1801368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微軟正黑體"/>
              </a:rPr>
              <a:t>AI 教育 品牌拓展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38944" y="2313432"/>
            <a:ext cx="223113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021824" y="2496312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21824" y="2496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97312" y="2450592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雲科大 Firefly AI 講座 ✓</a:t>
            </a:r>
          </a:p>
        </p:txBody>
      </p:sp>
      <p:sp>
        <p:nvSpPr>
          <p:cNvPr id="71" name="Oval 70"/>
          <p:cNvSpPr/>
          <p:nvPr/>
        </p:nvSpPr>
        <p:spPr>
          <a:xfrm>
            <a:off x="10021824" y="3813048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21824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97312" y="3767328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AI 向量設計 教學影片上線</a:t>
            </a:r>
          </a:p>
        </p:txBody>
      </p:sp>
      <p:sp>
        <p:nvSpPr>
          <p:cNvPr id="74" name="Oval 73"/>
          <p:cNvSpPr/>
          <p:nvPr/>
        </p:nvSpPr>
        <p:spPr>
          <a:xfrm>
            <a:off x="10021824" y="5129784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21824" y="5129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97312" y="5084064"/>
            <a:ext cx="148132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B1929"/>
                </a:solidFill>
                <a:latin typeface="微軟正黑體"/>
              </a:rPr>
              <a:t>Acrobat Sign 企業導入支援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126480"/>
            <a:ext cx="12188952" cy="713232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126480"/>
            <a:ext cx="91440" cy="713232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6236208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460"/>
                </a:solidFill>
                <a:latin typeface="微軟正黑體"/>
              </a:rPr>
              <a:t>❝  突破不是偶然，是每日專業積累、每次客戶信任的印記  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12188952" cy="1078992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軟正黑體"/>
              </a:rPr>
              <a:t>5 月工作重點預覽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E6FD"/>
                </a:solidFill>
                <a:latin typeface="微軟正黑體"/>
              </a:rPr>
              <a:t>各成員下月重點任務 ‧ 持續衝刺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61288"/>
            <a:ext cx="914400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417320"/>
            <a:ext cx="2231136" cy="475488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81328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軟正黑體"/>
              </a:rPr>
              <a:t>Aaron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892808"/>
            <a:ext cx="2231136" cy="4645152"/>
          </a:xfrm>
          <a:prstGeom prst="rect">
            <a:avLst/>
          </a:prstGeom>
          <a:solidFill>
            <a:srgbClr val="FFFFFF"/>
          </a:solidFill>
          <a:ln w="1651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" y="207568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0756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02536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Cloudiway T2T 跨租戶遷移實作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2916936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" y="319125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1912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118104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Defender for Business 部署案件跟進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" y="4032504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3192" y="4306824"/>
            <a:ext cx="320040" cy="3200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4306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Entra ID 取代 AD 客戶正式規劃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" y="5148072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3192" y="5422392"/>
            <a:ext cx="320040" cy="32004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349240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Power Automate SharePoint 整合開發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1417320"/>
            <a:ext cx="2231136" cy="47548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1481328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軟正黑體"/>
              </a:rPr>
              <a:t>Denny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1892808"/>
            <a:ext cx="2231136" cy="4645152"/>
          </a:xfrm>
          <a:prstGeom prst="rect">
            <a:avLst/>
          </a:prstGeom>
          <a:solidFill>
            <a:srgbClr val="FFFFFF"/>
          </a:solidFill>
          <a:ln w="1651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88920" y="207568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20756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2002536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彰銀 Jamf 憑證更新前置作業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2916936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88920" y="319125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1912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3824" y="3118104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強茂 Jamf Mobile POC 後續跟進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032504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88920" y="4306824"/>
            <a:ext cx="32004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4306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824" y="423367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凱基人壽 macOS MDM 服務擴展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5148072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88920" y="5422392"/>
            <a:ext cx="32004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63824" y="5349240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Apex One 三鶯線 建置完成驗收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47488" y="1417320"/>
            <a:ext cx="2231136" cy="47548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1481328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軟正黑體"/>
              </a:rPr>
              <a:t>William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7488" y="1892808"/>
            <a:ext cx="2231136" cy="4645152"/>
          </a:xfrm>
          <a:prstGeom prst="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184648" y="207568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20756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9552" y="2002536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華航 Jamf 年度服務續約洽談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4648" y="2916936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184648" y="319125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84648" y="31912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9552" y="3118104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奇美醫院 進階培訓規劃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84648" y="4032504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184648" y="4306824"/>
            <a:ext cx="320040" cy="3200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84648" y="4306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9552" y="423367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Kaspersky KES 升版服務推廣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84648" y="5148072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84648" y="5422392"/>
            <a:ext cx="320040" cy="3200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84648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9552" y="5349240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強茂 MDM POC 轉正式合約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43216" y="1417320"/>
            <a:ext cx="2231136" cy="47548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34656" y="1481328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軟正黑體"/>
              </a:rPr>
              <a:t>Lucas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43216" y="1892808"/>
            <a:ext cx="2231136" cy="4645152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80376" y="207568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0376" y="20756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0" y="2002536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Sentinel POC 驗收報告撰寫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0376" y="2916936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580376" y="319125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0376" y="31912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0" y="3118104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Azure 備份 SOP 標準化建立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0376" y="4032504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580376" y="4306824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80376" y="4306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0" y="423367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坤侑科技 AWS→Azure 遷移規劃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0376" y="5148072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580376" y="5422392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80376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55280" y="5349240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嘉龍資訊 VM 升版完成驗收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38944" y="1417320"/>
            <a:ext cx="2231136" cy="47548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30384" y="1481328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軟正黑體"/>
              </a:rPr>
              <a:t>Jimmy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38944" y="1892808"/>
            <a:ext cx="2231136" cy="4645152"/>
          </a:xfrm>
          <a:prstGeom prst="rect">
            <a:avLst/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976104" y="2075688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20756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51008" y="2002536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Firefly AI 進階 課程規劃上線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76104" y="2916936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976104" y="3191256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76104" y="31912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51008" y="3118104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Acrobat Sign 企業版推廣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976104" y="4032504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976104" y="4306824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76104" y="4306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51008" y="4233672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AI 工具整合 培訓教材製作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76104" y="5148072"/>
            <a:ext cx="1956816" cy="3657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976104" y="5422392"/>
            <a:ext cx="320040" cy="3200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76104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51008" y="5349240"/>
            <a:ext cx="1609343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B1929"/>
                </a:solidFill>
                <a:latin typeface="微軟正黑體"/>
              </a:rPr>
              <a:t>技術文件月刊 部落格定期產出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126480"/>
            <a:ext cx="12188952" cy="713232"/>
          </a:xfrm>
          <a:prstGeom prst="rect">
            <a:avLst/>
          </a:prstGeom>
          <a:solidFill>
            <a:srgbClr val="EA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0" y="6126480"/>
            <a:ext cx="91440" cy="713232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6032" y="6236208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460"/>
                </a:solidFill>
                <a:latin typeface="微軟正黑體"/>
              </a:rPr>
              <a:t>❝  今日佈局，定義明日格局；持續執行，方能引領市場  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noFill/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3200400"/>
            <a:ext cx="5029200" cy="5029200"/>
          </a:xfrm>
          <a:prstGeom prst="ellipse">
            <a:avLst/>
          </a:prstGeom>
          <a:noFill/>
          <a:ln w="19050">
            <a:solidFill>
              <a:srgbClr val="0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3200400" cy="3200400"/>
          </a:xfrm>
          <a:prstGeom prst="ellipse">
            <a:avLst/>
          </a:prstGeom>
          <a:solidFill>
            <a:srgbClr val="0A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"/>
            <a:ext cx="12188952" cy="1170432"/>
          </a:xfrm>
          <a:prstGeom prst="rect">
            <a:avLst/>
          </a:prstGeom>
          <a:solidFill>
            <a:srgbClr val="07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9144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微軟正黑體"/>
              </a:rPr>
              <a:t>AI 驅動月報一條龍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6EFAC"/>
                </a:solidFill>
                <a:latin typeface="微軟正黑體"/>
              </a:rPr>
              <a:t>從原始資料到管理簡報，全程 AI 工具協助完成，零人工排版，數據驅動決策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07008"/>
            <a:ext cx="914400" cy="502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89888"/>
            <a:ext cx="11430000" cy="621792"/>
          </a:xfrm>
          <a:prstGeom prst="roundRect">
            <a:avLst>
              <a:gd name="adj" fmla="val 8000"/>
            </a:avLst>
          </a:prstGeom>
          <a:solidFill>
            <a:srgbClr val="0A2010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6EFAC"/>
                </a:solidFill>
                <a:latin typeface="微軟正黑體"/>
              </a:rPr>
              <a:t>❝  AI 不是工具，而是新一代的工作夥伴；讓人從重複勞動中解放，聚焦真正的創造力  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176272"/>
            <a:ext cx="2103120" cy="2121408"/>
          </a:xfrm>
          <a:prstGeom prst="roundRect">
            <a:avLst>
              <a:gd name="adj" fmla="val 8000"/>
            </a:avLst>
          </a:prstGeom>
          <a:solidFill>
            <a:srgbClr val="0C2A4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7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7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11827"/>
                </a:solidFill>
                <a:latin typeface="微軟正黑體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926079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3B82F6"/>
                </a:solidFill>
                <a:latin typeface="微軟正黑體"/>
              </a:rPr>
              <a:t>原始資料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328415"/>
            <a:ext cx="188366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微軟正黑體"/>
              </a:rPr>
              <a:t>Excel 工作紀錄
PDF 月報文件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304495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微軟正黑體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2176272"/>
            <a:ext cx="2103120" cy="2121408"/>
          </a:xfrm>
          <a:prstGeom prst="roundRect">
            <a:avLst>
              <a:gd name="adj" fmla="val 8000"/>
            </a:avLst>
          </a:prstGeom>
          <a:solidFill>
            <a:srgbClr val="064E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47288" y="228600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11827"/>
                </a:solidFill>
                <a:latin typeface="微軟正黑體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2926079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34D399"/>
                </a:solidFill>
                <a:latin typeface="微軟正黑體"/>
              </a:rPr>
              <a:t>AI 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3328415"/>
            <a:ext cx="188366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微軟正黑體"/>
              </a:rPr>
              <a:t>Claude AI 提取
結構化資料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304495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微軟正黑體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6048" y="2176272"/>
            <a:ext cx="2103120" cy="2121408"/>
          </a:xfrm>
          <a:prstGeom prst="roundRect">
            <a:avLst>
              <a:gd name="adj" fmla="val 8000"/>
            </a:avLst>
          </a:prstGeom>
          <a:solidFill>
            <a:srgbClr val="2D146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33288" y="228600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11827"/>
                </a:solidFill>
                <a:latin typeface="微軟正黑體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2926079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A855F7"/>
                </a:solidFill>
                <a:latin typeface="微軟正黑體"/>
              </a:rPr>
              <a:t>互動儀表板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328415"/>
            <a:ext cx="188366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微軟正黑體"/>
              </a:rPr>
              <a:t>自動生成
Web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304495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微軟正黑體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42048" y="2176272"/>
            <a:ext cx="2103120" cy="2121408"/>
          </a:xfrm>
          <a:prstGeom prst="roundRect">
            <a:avLst>
              <a:gd name="adj" fmla="val 8000"/>
            </a:avLst>
          </a:prstGeom>
          <a:solidFill>
            <a:srgbClr val="451A0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19288" y="22860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11827"/>
                </a:solidFill>
                <a:latin typeface="微軟正黑體"/>
              </a:rPr>
              <a:t>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926079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59E0B"/>
                </a:solidFill>
                <a:latin typeface="微軟正黑體"/>
              </a:rPr>
              <a:t>部門月報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5" y="3328415"/>
            <a:ext cx="188366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微軟正黑體"/>
              </a:rPr>
              <a:t>KPI 追蹤
案件明細一覽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3" y="3044952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微軟正黑體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2176272"/>
            <a:ext cx="2103120" cy="2121408"/>
          </a:xfrm>
          <a:prstGeom prst="roundRect">
            <a:avLst>
              <a:gd name="adj" fmla="val 8000"/>
            </a:avLst>
          </a:prstGeom>
          <a:solidFill>
            <a:srgbClr val="45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05288" y="22860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05288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11827"/>
                </a:solidFill>
                <a:latin typeface="微軟正黑體"/>
              </a:rPr>
              <a:t>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2926079"/>
            <a:ext cx="19202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EF4444"/>
                </a:solidFill>
                <a:latin typeface="微軟正黑體"/>
              </a:rPr>
              <a:t>本份簡報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3328415"/>
            <a:ext cx="188366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微軟正黑體"/>
              </a:rPr>
              <a:t>AI 自動排版
簡報一條龍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572000"/>
            <a:ext cx="2633472" cy="896112"/>
          </a:xfrm>
          <a:prstGeom prst="roundRect">
            <a:avLst>
              <a:gd name="adj" fmla="val 8000"/>
            </a:avLst>
          </a:prstGeom>
          <a:solidFill>
            <a:srgbClr val="0F1F38"/>
          </a:solidFill>
          <a:ln w="1270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6268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微軟正黑體"/>
              </a:rPr>
              <a:t>⏱️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4645152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微軟正黑體"/>
              </a:rPr>
              <a:t>效率提升 80%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974336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報告製作時間大幅縮短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93008" y="4572000"/>
            <a:ext cx="2633472" cy="896112"/>
          </a:xfrm>
          <a:prstGeom prst="roundRect">
            <a:avLst>
              <a:gd name="adj" fmla="val 8000"/>
            </a:avLst>
          </a:prstGeom>
          <a:solidFill>
            <a:srgbClr val="0F1F38"/>
          </a:solidFill>
          <a:ln w="1270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2736" y="46268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微軟正黑體"/>
              </a:rPr>
              <a:t>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59" y="4645152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微軟正黑體"/>
              </a:rPr>
              <a:t>零人工排版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59" y="4974336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自動生成，無需手動美化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37375" y="4572000"/>
            <a:ext cx="2633472" cy="896112"/>
          </a:xfrm>
          <a:prstGeom prst="roundRect">
            <a:avLst>
              <a:gd name="adj" fmla="val 8000"/>
            </a:avLst>
          </a:prstGeom>
          <a:solidFill>
            <a:srgbClr val="0F1F38"/>
          </a:solidFill>
          <a:ln w="1270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7103" y="46268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微軟正黑體"/>
              </a:rPr>
              <a:t>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7" y="4645152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微軟正黑體"/>
              </a:rPr>
              <a:t>即時更新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7" y="4974336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資料異動後一鍵重新生成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81744" y="4572000"/>
            <a:ext cx="2633472" cy="896112"/>
          </a:xfrm>
          <a:prstGeom prst="roundRect">
            <a:avLst>
              <a:gd name="adj" fmla="val 8000"/>
            </a:avLst>
          </a:prstGeom>
          <a:solidFill>
            <a:srgbClr val="0F1F38"/>
          </a:solidFill>
          <a:ln w="12700">
            <a:solidFill>
              <a:srgbClr val="1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91472" y="46268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11827"/>
                </a:solidFill>
                <a:latin typeface="微軟正黑體"/>
              </a:rPr>
              <a:t>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645152"/>
            <a:ext cx="19933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微軟正黑體"/>
              </a:rPr>
              <a:t>數據驅動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12096" y="4974336"/>
            <a:ext cx="19933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視覺化圖表自動彙整分析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5596128"/>
            <a:ext cx="12188952" cy="1261872"/>
          </a:xfrm>
          <a:prstGeom prst="rect">
            <a:avLst/>
          </a:prstGeom>
          <a:solidFill>
            <a:srgbClr val="04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" y="57058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微軟正黑體"/>
              </a:rPr>
              <a:t>🤖  本月報告 ‧ 互動儀表板 ‧ 本份簡報  均由 AI 工具（Claude）協助完成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6080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4D6B"/>
                </a:solidFill>
                <a:latin typeface="微軟正黑體"/>
              </a:rPr>
              <a:t>KS010S 部門 AI-First 工作模式實踐  ‧  2026年4月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"/>
            <a:ext cx="12188952" cy="1078992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8686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軟正黑體"/>
              </a:rPr>
              <a:t>2026 年度 KPI 進度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E6FD"/>
                </a:solidFill>
                <a:latin typeface="微軟正黑體"/>
              </a:rPr>
              <a:t>目標追蹤 ‧ 進度健康 ‧ 持續聚焦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61288"/>
            <a:ext cx="914400" cy="502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298448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016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298448"/>
            <a:ext cx="91440" cy="530352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460"/>
                </a:solidFill>
                <a:latin typeface="微軟正黑體"/>
              </a:rPr>
              <a:t>目標是方向，執行是力量，結果是最有力的証明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96596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965960"/>
            <a:ext cx="530352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659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39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月均技術支援案件達標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574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Denny 117件 ✓ · William 43件 ✓ · Lucas 51件 ✓ · Jimmy 72件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2057400"/>
            <a:ext cx="594360" cy="3200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20574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F46"/>
                </a:solidFill>
                <a:latin typeface="微軟正黑體"/>
              </a:rPr>
              <a:t>已達成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56032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560320"/>
            <a:ext cx="530352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56032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334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收費服務成交目標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6517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William NT$75,000 實收 ✓ · 其他成員積極推進收費案件中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0" y="2651760"/>
            <a:ext cx="594360" cy="3200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0" y="26517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  <a:latin typeface="微軟正黑體"/>
              </a:rPr>
              <a:t>進行中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15468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154680"/>
            <a:ext cx="530352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15468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2278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對外 Workshop 年度目標 ≥8次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2461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Jimmy 雲科大 Firefly AI 講座已完成 ✓ · 年度累計持續推進中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55680" y="3246120"/>
            <a:ext cx="594360" cy="3200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0" y="32461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  <a:latin typeface="微軟正黑體"/>
              </a:rPr>
              <a:t>進行中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749039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749039"/>
            <a:ext cx="530352" cy="5303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749039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8221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知識庫文件撰寫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840479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Jimmy KB 文章定期更新 ✓ · Denny / William 季度目標推進中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55680" y="3840479"/>
            <a:ext cx="594360" cy="3200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0" y="3840479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D4ED8"/>
                </a:solidFill>
                <a:latin typeface="微軟正黑體"/>
              </a:rPr>
              <a:t>進行中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4048" y="434340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" y="4343400"/>
            <a:ext cx="53035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34340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416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原廠認證更新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4348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各成員按代理商要求維持有效認證，年度前完成 renew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155680" y="4434840"/>
            <a:ext cx="594360" cy="32004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5680" y="44348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2400E"/>
                </a:solidFill>
                <a:latin typeface="微軟正黑體"/>
              </a:rPr>
              <a:t>待執行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493776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4937760"/>
            <a:ext cx="530352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49377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0109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AI 工具導入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292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Jimmy Firefly AI 整合推廣 ✓ · William / Denny 案件回覆自動化 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155680" y="5029200"/>
            <a:ext cx="594360" cy="3200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55680" y="50292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F46"/>
                </a:solidFill>
                <a:latin typeface="微軟正黑體"/>
              </a:rPr>
              <a:t>已達成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5532120"/>
            <a:ext cx="11430000" cy="530352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4048" y="5532120"/>
            <a:ext cx="530352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53212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微軟正黑體"/>
              </a:rPr>
              <a:t>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605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929"/>
                </a:solidFill>
                <a:latin typeface="微軟正黑體"/>
              </a:rPr>
              <a:t>部門月報按時呈報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56235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微軟正黑體"/>
              </a:rPr>
              <a:t>每月 AI 協助彙整，互動儀表板 + 簡報雙軌呈報 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155680" y="5623560"/>
            <a:ext cx="594360" cy="3200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0" y="562356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F46"/>
                </a:solidFill>
                <a:latin typeface="微軟正黑體"/>
              </a:rPr>
              <a:t>已達成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126480"/>
            <a:ext cx="12188952" cy="713232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126480"/>
            <a:ext cx="91440" cy="713232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" y="6236208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460"/>
                </a:solidFill>
                <a:latin typeface="微軟正黑體"/>
              </a:rPr>
              <a:t>❝  每一項 KPI，都是對客戶、對公司、對自己的承諾  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noFill/>
          <a:ln w="19050">
            <a:solidFill>
              <a:srgbClr val="1A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0C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457200"/>
            <a:ext cx="3657600" cy="3657600"/>
          </a:xfrm>
          <a:prstGeom prst="ellipse">
            <a:avLst/>
          </a:prstGeom>
          <a:noFill/>
          <a:ln w="19050">
            <a:solidFill>
              <a:srgbClr val="B88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微軟正黑體"/>
              </a:rPr>
              <a:t>持續進化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0D585"/>
                </a:solidFill>
                <a:latin typeface="微軟正黑體"/>
              </a:rPr>
              <a:t>方能引領未來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04288"/>
            <a:ext cx="5029200" cy="64008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E6FD"/>
                </a:solidFill>
                <a:latin typeface="微軟正黑體"/>
              </a:rPr>
              <a:t>KS010S 部門  ·  2026年4月 月報圓滿完成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0D2345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260604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微軟正黑體"/>
              </a:rPr>
              <a:t>業績健康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94176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微軟正黑體"/>
              </a:rPr>
              <a:t>379件服務，NT$75K 實收，虛擬估值 NT$216K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004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0D234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200400"/>
            <a:ext cx="260604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310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微軟正黑體"/>
              </a:rPr>
              <a:t>AI 落地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694176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微軟正黑體"/>
              </a:rPr>
              <a:t>月報、儀表板、簡報一條龍成功實踐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0D2345"/>
          </a:solidFill>
          <a:ln w="19050">
            <a:solidFill>
              <a:srgbClr val="B88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00400"/>
            <a:ext cx="2606040" cy="64008"/>
          </a:xfrm>
          <a:prstGeom prst="rect">
            <a:avLst/>
          </a:prstGeom>
          <a:solidFill>
            <a:srgbClr val="B88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310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861C"/>
                </a:solidFill>
                <a:latin typeface="微軟正黑體"/>
              </a:rPr>
              <a:t>佈局 5月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694176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微軟正黑體"/>
              </a:rPr>
              <a:t>彰銀、奇美、Sentinel、Firefly AI 等重點項目持續推進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2004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0D234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3200400"/>
            <a:ext cx="260604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3101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微軟正黑體"/>
              </a:rPr>
              <a:t>KPI 達標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694176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微軟正黑體"/>
              </a:rPr>
              <a:t>月均案件、AI 導入、月報呈報三項已達標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1">
                <a:solidFill>
                  <a:srgbClr val="1E3A6E"/>
                </a:solidFill>
                <a:latin typeface="Times New Roman"/>
              </a:rPr>
              <a:t>Thank you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800600"/>
            <a:ext cx="4160520" cy="621792"/>
          </a:xfrm>
          <a:prstGeom prst="roundRect">
            <a:avLst>
              <a:gd name="adj" fmla="val 8000"/>
            </a:avLst>
          </a:prstGeom>
          <a:solidFill>
            <a:srgbClr val="071E1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4846320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微軟正黑體"/>
              </a:rPr>
              <a:t>🤖  本月報告 · 儀表板 · 簡報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5102352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  <a:latin typeface="微軟正黑體"/>
              </a:rPr>
              <a:t>全程由 AI 工具（Claude）協助完成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D6B"/>
                </a:solidFill>
                <a:latin typeface="微軟正黑體"/>
              </a:rPr>
              <a:t>KS010S 部門月報  ‧  2026年4月  ‧  主管月會  ‧ 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